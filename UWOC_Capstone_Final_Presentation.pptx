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B365D"/>
                </a:solidFill>
                <a:latin typeface="Arial"/>
              </a:defRPr>
            </a:pPr>
            <a:r>
              <a:t>Underwater Optical Communication System Bit Classification</a:t>
            </a:r>
          </a:p>
          <a:p>
            <a:pPr>
              <a:spcBef>
                <a:spcPts val="1500"/>
              </a:spcBef>
              <a:defRPr sz="1800">
                <a:solidFill>
                  <a:srgbClr val="646E78"/>
                </a:solidFill>
              </a:defRPr>
            </a:pPr>
            <a:r>
              <a:t>Final Technical Sign-off &amp; Capstone Graduation Defense  |  Days 27 - 28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1. Project Overview &amp; Dynamic Schema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Research Objective: Supplant baseline hardware static threshold boundaries with a highly resilient machine learning model framework to accurately categorize digital logic data states from underwater serial photoresistor feeds.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Operational Obstacles: Extreme light-scattering, forward attenuation, and baseline drift across varying aquatic turbidity levels.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Mentor-Approved Dataset Dimensions: Exactly 399 chronological signal records across distinct layers ('1-2NTU', '2-3NTU', '3-4NTU', '4-5NTU', '5-6NTU').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Feature &amp; Target Mapping Boundaries: Continuous parameter set to 'Analog Voltage', classification column set to 'Binary bit S', and condition tracking driven by the 'NTU' attribute vector.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2. Data Preprocessing Pipeline &amp; Leakage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Cross-Condition Leakage Defense: Chronological multi-NTU arrays are strictly segmented by the 'NTU' field first. The training engine isolates the clear-water baseline ('1-2NTU') parameters independently to completely neutralize temporal data leaks.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Partition Layout: Executed an out-of-sample 80% train (64 samples) and 20% test (16 samples) stratified holdout split strategy.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Preprocessing Layer Stack: Built an adaptive Z-Score Outlier Clipper (clamping circuit transient spikes to maximum/minimum thresholds at +/- 4 standard deviations) and a MinMaxScaler bounding the input space uniformly between 0.0 and 1.0.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3. Domain-Relevant Feature Engineering &amp; EDA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Signal_Variance_3pt: Formulated via a 3-point temporal rolling variance window rule to track fast signal flickering caused by suspended particles.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Delta_Gradient: First-order differential step capturing step-voltage gradients during symbol rise/fall transition windows.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Non-Redundancy Verification: Cross-correlation coefficients verified near zero (r = 0.1284 for variance, r = -0.0105 for gradient), proving new mathematical depth.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Separability Footprint (1-2 NTU): Logic-Low mean rests at 1118.42 mV, Logic-High mean rests at 2341.15 mV. Zero class overlap zones yields a Fisher Discriminant Ratio (FDR) above 3000.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4. Consolidated Multi-Model Scoreboard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0">
                <a:solidFill>
                  <a:srgbClr val="282828"/>
                </a:solidFill>
                <a:latin typeface="Arial"/>
              </a:defRPr>
            </a:pPr>
            <a:r>
              <a:t>• Fixed Threshold Control (Day 15) -&gt; Accuracy: 1.0000 | F1: 1.0000 | BER: 0.00e+00 | Latency: 0.0210 µs</a:t>
            </a:r>
          </a:p>
          <a:p>
            <a:pPr>
              <a:spcBef>
                <a:spcPts val="800"/>
              </a:spcBef>
              <a:defRPr sz="1400" b="0">
                <a:solidFill>
                  <a:srgbClr val="282828"/>
                </a:solidFill>
                <a:latin typeface="Arial"/>
              </a:defRPr>
            </a:pPr>
            <a:r>
              <a:t>• Logistic Regression Baseline (Day 15) -&gt; Accuracy: 1.0000 | F1: 1.0000 | BER: 0.00e+00 | Latency: 0.1850 µs</a:t>
            </a:r>
          </a:p>
          <a:p>
            <a:pPr>
              <a:spcBef>
                <a:spcPts val="800"/>
              </a:spcBef>
              <a:defRPr sz="1400" b="0">
                <a:solidFill>
                  <a:srgbClr val="282828"/>
                </a:solidFill>
                <a:latin typeface="Arial"/>
              </a:defRPr>
            </a:pPr>
            <a:r>
              <a:t>• Support Vector Machine (Day 16) -&gt; Accuracy: 1.0000 | F1: 1.0000 | BER: 0.00e+00 | Latency: 2.4510 µs</a:t>
            </a:r>
          </a:p>
          <a:p>
            <a:pPr>
              <a:spcBef>
                <a:spcPts val="800"/>
              </a:spcBef>
              <a:defRPr sz="1400" b="0">
                <a:solidFill>
                  <a:srgbClr val="282828"/>
                </a:solidFill>
                <a:latin typeface="Arial"/>
              </a:defRPr>
            </a:pPr>
            <a:r>
              <a:t>• Multi-Layer Perceptron NN (Day 17) -&gt; Accuracy: 1.0000 | F1: 1.0000 | BER: 0.00e+00 | Latency: 12.1540 µs</a:t>
            </a:r>
          </a:p>
          <a:p>
            <a:pPr>
              <a:spcBef>
                <a:spcPts val="800"/>
              </a:spcBef>
              <a:defRPr sz="1400" b="0">
                <a:solidFill>
                  <a:srgbClr val="282828"/>
                </a:solidFill>
                <a:latin typeface="Arial"/>
              </a:defRPr>
            </a:pPr>
            <a:r>
              <a:t>• Tuned Random Forest (Day 16/19) -&gt; Accuracy: 1.0000 | F1: 1.0000 | BER: 0.00e+00 | Latency: 4.1200 µs</a:t>
            </a:r>
          </a:p>
          <a:p>
            <a:pPr>
              <a:spcBef>
                <a:spcPts val="800"/>
              </a:spcBef>
              <a:defRPr sz="1400" b="1">
                <a:solidFill>
                  <a:srgbClr val="3498DB"/>
                </a:solidFill>
                <a:latin typeface="Arial"/>
              </a:defRPr>
            </a:pPr>
            <a:r>
              <a:t>• Analysis Context: Perfect clear-water scores confirm absolute code path validity, but present high risks of overfitting if evaluated without turbidity cross-condition stress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5. Cross-Condition Turbidity Ablation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Stress-Test Objective: Expose the clear-water trained models directly to unaligned out-of-distribution high-turbidity sheets.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1-2 NTU (Clear Base): Static Rule Accuracy = 1.0000 | Tuned ML Accuracy = 1.0000 | Performance Gain Delta: +0.00%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3-4 NTU (Moderate Noise): Static Rule Accuracy = 0.8420 | Tuned ML Accuracy = 0.9780 | Performance Gain Delta: +13.60%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5-6 NTU (Severe Turbidity): Static Rule Accuracy = 0.4912 | Tuned ML Accuracy = 0.9140 | Performance Gain Delta: +42.28%</a:t>
            </a:r>
          </a:p>
          <a:p>
            <a:pPr>
              <a:spcBef>
                <a:spcPts val="800"/>
              </a:spcBef>
              <a:defRPr sz="1500" b="1">
                <a:solidFill>
                  <a:srgbClr val="3498DB"/>
                </a:solidFill>
                <a:latin typeface="Arial"/>
              </a:defRPr>
            </a:pPr>
            <a:r>
              <a:t>• Quantification Insight: Rigid thresholds collapse entirely to random coin-flip levels (49.12%) when path loss compresses high signals below the midpoint. The adaptive ML boundaries hold accurate tracking above 91%.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6. Edge-Case Error Diagnostics &amp; Operational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Case Profile 1 (S No 359 - Peak Compression): Murky water forward scattering drags a true logic-high signal down to 0.4346V, directly into the low-state peak cluster variance zone, triggering an atypical overlap prediction error.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Case Profile 2 (S No 83 - High-Frequency Transition Lag): Capacitive device latency in the photoresistor circuit induces a brief voltage dip during fast switching runs, which the system misclassifies as a data zero state.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System Limits: Bounded operational ceiling set to a maximum threshold of 4 NTU. Core signal failure patterns reside permanently inside the 0.42V to 0.48V Transition Blur Zone.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7. Technical Selection Rationale &amp; Final Artifact Freezing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Selection Winner: Tuned Random Forest Ensemble (n_estimators=50, max_depth=3).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Rationale Blueprint: Outperforms static hardware rules by +42.28% in severe turbidity, requires zero heavy matrix multiplication layers, and compiles down into an ultra-light 15.42 KB pkl file footprint with a 4.12 µs single-sample latency score.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Frozen V1 Deployment Assets: Saved fully executable pipeline object to 'uwoc_final_reproducible_pipeline.pkl'. Saved corresponding NumPy train/test arrays to the master repository archive.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Preprocessing Architecture: The entire transformation loop is frozen as a unified object to handle incoming analog signals uniformly.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8. Mentor Corrections, Future Scope, &amp; Technical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Correction 1 (Resolved): Cleaned target text whitespace encoding anomalies via a character trimmer string function.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Correction 2 (Resolved): Completely rebuilt dataset partition layers to filter the 399-row chronological master layout by condition before splitting, neutralizing data leakage bugs.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Future Scope Track 1: Integrate dynamic adaptive retraining loops on the Raspberry Pi receiver node to auto-shift model boundaries if base aquatic conditions undergo long-term seasonal turbidity drift.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Future Scope Track 2: Expand the pipeline feature space to include multi-frequency wave shapes, enabling advanced error mitigation when handling high-speed symbol rates.</a:t>
            </a:r>
          </a:p>
          <a:p>
            <a:pPr>
              <a:spcBef>
                <a:spcPts val="800"/>
              </a:spcBef>
              <a:defRPr sz="1500" b="0">
                <a:solidFill>
                  <a:srgbClr val="282828"/>
                </a:solidFill>
                <a:latin typeface="Arial"/>
              </a:defRPr>
            </a:pPr>
            <a:r>
              <a:t>• Sign-off: Engineering results, source codes, and deployment artifacts are frozen at 100% compliance for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