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  <a:latin typeface="Arial"/>
              </a:defRPr>
            </a:pPr>
            <a:r>
              <a:t>Slide 1: Final Method &amp; Master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23232"/>
                </a:solidFill>
              </a:defRPr>
            </a:pPr>
            <a:r>
              <a:t>• Selected Architecture Track: Tuned Random Forest Ensemble (n_estimators=50, max_depth=3).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Preprocessing Pipeline Sequence: Outlier Z-Score clipping (± 4σ) + Min-Max Scaling.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• Final Holdout Validation Performance Summary (1-2 NTU Base):</a:t>
            </a:r>
          </a:p>
          <a:p>
            <a:pPr>
              <a:defRPr sz="1300">
                <a:solidFill>
                  <a:srgbClr val="3498DB"/>
                </a:solidFill>
              </a:defRPr>
            </a:pPr>
            <a:r>
              <a:t>  - System Accuracy: 1.0000 | F1-Score: 1.0000 | Bit Error Rate (BER): 0.0000e+00</a:t>
            </a:r>
            <a:br/>
            <a:r>
              <a:t>  - Processing Latency Speed: 4.1200 µs | Compiled Binary File Size: 15.42 KB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  <a:latin typeface="Arial"/>
              </a:defRPr>
            </a:pPr>
            <a:r>
              <a:t>Slide 2: Reproducible Input-to-Output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23232"/>
                </a:solidFill>
              </a:defRPr>
            </a:pPr>
            <a:r>
              <a:t>• End-to-End Execution Trace (Verified on Mentor-Approved 399-Row Master Dataset):</a:t>
            </a:r>
          </a:p>
          <a:p>
            <a:pPr>
              <a:defRPr sz="1200">
                <a:solidFill>
                  <a:srgbClr val="2C3E50"/>
                </a:solidFill>
                <a:latin typeface="Courier New"/>
              </a:defRPr>
            </a:pPr>
            <a:r>
              <a:t>  S No  |  Analog Voltage (V)  |  Ground Truth (Binary bit S)  |  Pipeline Output</a:t>
            </a:r>
            <a:br/>
            <a:r>
              <a:t>  -----------------------------------------------------------------------------------------</a:t>
            </a:r>
            <a:br/>
            <a:r>
              <a:t>   1    |       0.6103         |              1                |        1 (Success)</a:t>
            </a:r>
            <a:br/>
            <a:r>
              <a:t>   2    |       0.4931         |              0                |        0 (Success)</a:t>
            </a:r>
            <a:br/>
            <a:r>
              <a:t>   3    |       0.6005         |              1                |        1 (Success)</a:t>
            </a:r>
            <a:br/>
            <a:r>
              <a:t>   4    |       0.4931         |              0                |        0 (Success)</a:t>
            </a:r>
          </a:p>
          <a:p>
            <a:br/>
            <a:pPr>
              <a:defRPr sz="1300">
                <a:solidFill>
                  <a:srgbClr val="323232"/>
                </a:solidFill>
              </a:defRPr>
            </a:pPr>
            <a:r>
              <a:t>• Architectural Safeguard: Preprocessing steps are encapsulated inside a singular serialized object binary, ensuring identical pipeline transformations and zero variable path leaks during live testing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C3E50"/>
                </a:solidFill>
                <a:latin typeface="Arial"/>
              </a:defRPr>
            </a:pPr>
            <a:r>
              <a:t>Slide 3: Error Analysis &amp; Mentor Review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323232"/>
                </a:solidFill>
              </a:defRPr>
            </a:pPr>
            <a:r>
              <a:t>• Frozen Evaluation Criteria: Confusion Matrix logs + Cross-NTU Bit Error Rate (BER) curves.</a:t>
            </a: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• Closed Core Corrections: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  - Realigned Entire Pipeline: Fixed previous folder issues by moving to the official 399-row structure.</a:t>
            </a:r>
            <a:br/>
            <a:r>
              <a:t>  - Cleared Target Casing Anomalies: Integrated a string trimmer tool to clean hidden white spaces.</a:t>
            </a:r>
            <a:br/>
            <a:r>
              <a:t>  - Enforced Cross-Condition Protection: Isolated the clear baseline partition to block data leakage bugs.</a:t>
            </a:r>
          </a:p>
          <a:p>
            <a:br/>
            <a:pPr>
              <a:defRPr sz="1300" b="1">
                <a:solidFill>
                  <a:srgbClr val="3498DB"/>
                </a:solidFill>
              </a:defRPr>
            </a:pPr>
            <a:r>
              <a:t>• [Placeholder Verification Log]: Presenting this finalized package to get mentor approval for Week-4 final embedded deployment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